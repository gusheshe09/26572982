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os Mbatha" userId="3a34b12db1491137" providerId="LiveId" clId="{6557779B-4C39-445A-BD28-4ACBDEE74798}"/>
    <pc:docChg chg="custSel modSld">
      <pc:chgData name="Titos Mbatha" userId="3a34b12db1491137" providerId="LiveId" clId="{6557779B-4C39-445A-BD28-4ACBDEE74798}" dt="2026-06-18T11:29:44.866" v="5" actId="20577"/>
      <pc:docMkLst>
        <pc:docMk/>
      </pc:docMkLst>
      <pc:sldChg chg="modSp mod">
        <pc:chgData name="Titos Mbatha" userId="3a34b12db1491137" providerId="LiveId" clId="{6557779B-4C39-445A-BD28-4ACBDEE74798}" dt="2026-06-18T11:29:44.866" v="5" actId="20577"/>
        <pc:sldMkLst>
          <pc:docMk/>
          <pc:sldMk cId="0" sldId="257"/>
        </pc:sldMkLst>
        <pc:spChg chg="mod">
          <ac:chgData name="Titos Mbatha" userId="3a34b12db1491137" providerId="LiveId" clId="{6557779B-4C39-445A-BD28-4ACBDEE74798}" dt="2026-06-18T11:29:44.866" v="5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Titos Mbatha" userId="3a34b12db1491137" providerId="LiveId" clId="{6557779B-4C39-445A-BD28-4ACBDEE74798}" dt="2026-06-18T11:28:36.375" v="1" actId="20577"/>
        <pc:sldMkLst>
          <pc:docMk/>
          <pc:sldMk cId="0" sldId="260"/>
        </pc:sldMkLst>
        <pc:spChg chg="mod">
          <ac:chgData name="Titos Mbatha" userId="3a34b12db1491137" providerId="LiveId" clId="{6557779B-4C39-445A-BD28-4ACBDEE74798}" dt="2026-06-18T11:28:36.375" v="1" actId="20577"/>
          <ac:spMkLst>
            <pc:docMk/>
            <pc:sldMk cId="0" sldId="260"/>
            <ac:spMk id="6" creationId="{00000000-0000-0000-0000-000000000000}"/>
          </ac:spMkLst>
        </pc:spChg>
      </pc:sldChg>
      <pc:sldChg chg="delSp modSp mod">
        <pc:chgData name="Titos Mbatha" userId="3a34b12db1491137" providerId="LiveId" clId="{6557779B-4C39-445A-BD28-4ACBDEE74798}" dt="2026-06-18T11:29:10.676" v="3" actId="478"/>
        <pc:sldMkLst>
          <pc:docMk/>
          <pc:sldMk cId="0" sldId="263"/>
        </pc:sldMkLst>
        <pc:spChg chg="del mod">
          <ac:chgData name="Titos Mbatha" userId="3a34b12db1491137" providerId="LiveId" clId="{6557779B-4C39-445A-BD28-4ACBDEE74798}" dt="2026-06-18T11:29:10.676" v="3" actId="478"/>
          <ac:spMkLst>
            <pc:docMk/>
            <pc:sldMk cId="0" sldId="263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29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6B3A2A">
              <a:alpha val="45000"/>
            </a:srgbClr>
          </a:solidFill>
          <a:ln w="12700">
            <a:solidFill>
              <a:srgbClr val="6B3A2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C68B59">
              <a:alpha val="30000"/>
            </a:srgbClr>
          </a:solidFill>
          <a:ln w="12700">
            <a:solidFill>
              <a:srgbClr val="C68B5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C68B59"/>
                </a:solidFill>
              </a:rPr>
              <a:t>STELLENBOSCH UNIVERSITY · DEPARTMENT OF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Hub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5EFE6"/>
                </a:solidFill>
              </a:rPr>
              <a:t>Premium Coffee Sourcing Recommendations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5EFE6"/>
                </a:solidFill>
              </a:rPr>
              <a:t>for the Neelsie Entrepreneur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286000" cy="36576"/>
          </a:xfrm>
          <a:prstGeom prst="rect">
            <a:avLst/>
          </a:prstGeom>
          <a:solidFill>
            <a:srgbClr val="C68B59"/>
          </a:solidFill>
          <a:ln w="12700">
            <a:solidFill>
              <a:srgbClr val="C68B5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9080"/>
                </a:solidFill>
              </a:rPr>
              <a:t>Data Science Practical · 2026  |  Student number: 26572982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C68B59"/>
          </a:solidFill>
          <a:ln w="12700">
            <a:solidFill>
              <a:srgbClr val="C68B5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4A3728"/>
                </a:solidFill>
              </a:rPr>
              <a:t>2 095 </a:t>
            </a:r>
            <a:r>
              <a:rPr lang="en-US" sz="1050" dirty="0">
                <a:solidFill>
                  <a:srgbClr val="4A3728"/>
                </a:solidFill>
              </a:rPr>
              <a:t>expert-reviewed coffees from global roasters — each with up to 3 expert descriptions, cost per 100g (USD), roast strength, and roaster location.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502920" cy="502920"/>
          </a:xfrm>
          <a:prstGeom prst="ellipse">
            <a:avLst/>
          </a:prstGeom>
          <a:solidFill>
            <a:srgbClr val="C68B59"/>
          </a:solidFill>
          <a:ln w="12700">
            <a:solidFill>
              <a:srgbClr val="C68B5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Matching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</a:rPr>
              <a:t>15 sensory descriptors extracted from the Stellenbosch student survey word cloud: chocolate, sweet, aroma, mouthfeel, fruit, bright, floral, citrus, balanced, smooth, dark, rich, notes, finish, savory.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02920" cy="502920"/>
          </a:xfrm>
          <a:prstGeom prst="ellipse">
            <a:avLst/>
          </a:prstGeom>
          <a:solidFill>
            <a:srgbClr val="C68B59"/>
          </a:solidFill>
          <a:ln w="12700">
            <a:solidFill>
              <a:srgbClr val="C68B5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172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Threshold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</a:rPr>
              <a:t>Coffees scoring 10+ keyword matches selected as 'Stellenbosch-approved'. Balances quality filtering with supply-side flexibility — 444 coffees (21%) qualify.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by Roast Type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80760" y="822960"/>
            <a:ext cx="2834640" cy="3977640"/>
          </a:xfrm>
          <a:prstGeom prst="roundRect">
            <a:avLst>
              <a:gd name="adj" fmla="val 3871"/>
            </a:avLst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8B59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Medium-Light scores highest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at 93.7 avg — and represents 71% of available supply.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Medium-Dark most consistent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with the tightest rating spread.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Roast type alone is not a strong differentiator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— all roasts score 93+.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9080"/>
                </a:solidFill>
              </a:rPr>
              <a:t>Filter: keyword score ≥ 10. n=444 coffees.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7E98CD-AE37-3731-A241-5EFA7289A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577840" cy="3954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Roaster Countries by Rating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80760" y="822960"/>
            <a:ext cx="2834640" cy="3977640"/>
          </a:xfrm>
          <a:prstGeom prst="roundRect">
            <a:avLst>
              <a:gd name="adj" fmla="val 3871"/>
            </a:avLst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8B59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England tops at 94.2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but only n=5 coffees — supply risk.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Taiwan (93.8, n=185) and US (93.5, n=369)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offer best quality AND reliable supply volume.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Recommendation: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Prioritise Taiwan and US as primary sourcing regions.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9080"/>
                </a:solidFill>
              </a:rPr>
              <a:t>Filter: countries with ≥5 coffees in the recommended set.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02E82F-0C69-E294-54F6-8711DB146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0891"/>
            <a:ext cx="5075360" cy="39017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Price Guarantee Quality?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57784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80760" y="822960"/>
            <a:ext cx="2834640" cy="3977640"/>
          </a:xfrm>
          <a:prstGeom prst="roundRect">
            <a:avLst>
              <a:gd name="adj" fmla="val 3871"/>
            </a:avLst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8B59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Weak positive trend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exists but confidence interval widens sharply above $50.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Most 93–96 rated coffees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cluster below $50/100g.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Overspending is not justified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quality below $50 matches expensive options.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9080"/>
                </a:solidFill>
              </a:rPr>
              <a:t>Dashed line = linear trend. Shaded band = 95% confidence interval.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Roasters by Expert Rating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80760" y="822960"/>
            <a:ext cx="2834640" cy="3977640"/>
          </a:xfrm>
          <a:prstGeom prst="roundRect">
            <a:avLst>
              <a:gd name="adj" fmla="val 3871"/>
            </a:avLst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8B59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Hula Daddy Kona Coffee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leads at 95.0 avg across n=9 coffees.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Dragonfly Coffee Roasters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most reliable: 94.4 with n=17.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Kakalove Cafe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strongest at scale: 94.2 across n=63 coffees.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9080"/>
                </a:solidFill>
              </a:rPr>
              <a:t>Filter: roasters with ≥3 coffees in the recommended set.</a:t>
            </a: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A30416-2CDD-C23F-0A64-92A895DB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731520"/>
            <a:ext cx="5500468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Consistency by Roast Type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57784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80760" y="822960"/>
            <a:ext cx="2834640" cy="3977640"/>
          </a:xfrm>
          <a:prstGeom prst="roundRect">
            <a:avLst>
              <a:gd name="adj" fmla="val 3871"/>
            </a:avLst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8B59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Medium-Dark most consistent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— smallest box and shortest whiskers.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Medium-Light most variable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— widest spread, but highest peaks (97+).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EFE6"/>
                </a:solidFill>
              </a:rPr>
              <a:t>Medium roasts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FE6"/>
                </a:solidFill>
              </a:rPr>
              <a:t>— lowest median and wide spread. Least predictable.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9080"/>
                </a:solidFill>
              </a:rPr>
              <a:t>Boxes = IQR. Dots = individual coffees. Whiskers = full range.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Medium-Light Suppliers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728"/>
                </a:solidFill>
              </a:rPr>
              <a:t>Medium-Light roasts score highest on average but require careful supplier selection. These roasters deliver consistently: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399032"/>
            <a:ext cx="438912" cy="438912"/>
          </a:xfrm>
          <a:prstGeom prst="ellipse">
            <a:avLst/>
          </a:prstGeom>
          <a:solidFill>
            <a:srgbClr val="C68B59"/>
          </a:solidFill>
          <a:ln w="12700">
            <a:solidFill>
              <a:srgbClr val="C68B5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8116" y="2841299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1A0E"/>
                </a:solidFill>
              </a:rPr>
              <a:t>PT's Coffee Roasting Co. and Flight Coffee Co. offer the</a:t>
            </a:r>
          </a:p>
          <a:p>
            <a:r>
              <a:rPr lang="en-US" sz="1200" b="1" dirty="0">
                <a:solidFill>
                  <a:srgbClr val="2C1A0E"/>
                </a:solidFill>
              </a:rPr>
              <a:t>Best combination of consistency and high ratings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438912" cy="438912"/>
          </a:xfrm>
          <a:prstGeom prst="ellipse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65760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4420" y="2843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2C1A0E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160944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</a:rPr>
              <a:t>Greater Goods Coffee Roasters is the most consistent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9A8CDF1-7872-EC07-7B99-A6FB9AABB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81911"/>
            <a:ext cx="4344622" cy="25935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6B3A2A">
              <a:alpha val="40000"/>
            </a:srgbClr>
          </a:solidFill>
          <a:ln w="12700">
            <a:solidFill>
              <a:srgbClr val="6B3A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8B59"/>
                </a:solidFill>
              </a:rPr>
              <a:t>Summary for the Neelsie Coffee Entrepreneur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B59"/>
                </a:solidFill>
              </a:rPr>
              <a:t>ROAST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20240" y="1481328"/>
            <a:ext cx="6766560" cy="18288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965960" y="1261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6"/>
                </a:solidFill>
              </a:rPr>
              <a:t>Prioritise Medium-Light (93.7 avg, 71% of supply). Stock Medium-Dark for customers wanting maximum consistency.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B59"/>
                </a:solidFill>
              </a:rPr>
              <a:t>REGION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212848"/>
            <a:ext cx="6766560" cy="18288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965960" y="19933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6"/>
                </a:solidFill>
              </a:rPr>
              <a:t>Source from Taiwan (n=185, 93.8) and United States (n=369, 93.5) — best balance of quality and reliable supply.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B59"/>
                </a:solidFill>
              </a:rPr>
              <a:t>COST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944368"/>
            <a:ext cx="6766560" cy="18288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965960" y="27249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6"/>
                </a:solidFill>
              </a:rPr>
              <a:t>Do not overspend. Excellent coffees available below $50/100g. Price above this does not reliably predict better quality.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B59"/>
                </a:solidFill>
              </a:rPr>
              <a:t>SUPPLIERS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3675888"/>
            <a:ext cx="6766560" cy="18288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965960" y="34564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6"/>
                </a:solidFill>
              </a:rPr>
              <a:t>Top picks: Hula Daddy Kona (95.0), Dragonfly Coffee Roasters (94.4, n=17), Kakalove Cafe (94.2, n=63).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879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B59"/>
                </a:solidFill>
              </a:rPr>
              <a:t>ML PICKS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4407408"/>
            <a:ext cx="6766560" cy="18288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1965960" y="418795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6"/>
                </a:solidFill>
              </a:rPr>
              <a:t>For Medium-Light: PT's Coffee Roasting Co. (94.7) and Flight Coffee Co. (94.5) — highest rated with low variability.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643</Words>
  <Application>Microsoft Office PowerPoint</Application>
  <PresentationFormat>On-screen Show (16:9)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Hub Analysis</dc:title>
  <dc:subject>PptxGenJS Presentation</dc:subject>
  <dc:creator>26572982</dc:creator>
  <cp:lastModifiedBy>Titos Mbatha</cp:lastModifiedBy>
  <cp:revision>2</cp:revision>
  <dcterms:created xsi:type="dcterms:W3CDTF">2026-06-17T22:43:42Z</dcterms:created>
  <dcterms:modified xsi:type="dcterms:W3CDTF">2026-06-18T11:29:52Z</dcterms:modified>
</cp:coreProperties>
</file>